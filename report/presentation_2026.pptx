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Hiragino Sans"/>
              </a:defRPr>
            </a:pPr>
            <a:r>
              <a:t>SQiP 2026 経験発表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620000"/>
            <a:ext cx="108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iragino Sans"/>
              </a:defRPr>
            </a:pPr>
            <a:r>
              <a:t>静的解析に基づくテスト要求モデルの自動生成と</a:t>
            </a:r>
            <a:br/>
            <a:r>
              <a:t>それを用いたLLM単体テスト生成の実証評価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60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BBDD"/>
                </a:solidFill>
                <a:latin typeface="Hiragino Sans"/>
              </a:defRPr>
            </a:pPr>
            <a:r>
              <a:t>品質管理・テスト技術の観点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68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Hiragino Sans"/>
              </a:defRPr>
            </a:pPr>
            <a:r>
              <a:t>ホワイトボックステスト / テスト要求モデル / LLM / 静的解析 / 単体テスト生成 / トレーサビリティ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5400000"/>
            <a:ext cx="2340000" cy="9000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Hiragino Sans"/>
              </a:defRPr>
            </a:pPr>
            <a:r>
              <a:t>99件</a:t>
            </a:r>
            <a:br/>
            <a:r>
              <a:t>テスト要求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5400000"/>
            <a:ext cx="2340000" cy="9000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Hiragino Sans"/>
              </a:defRPr>
            </a:pPr>
            <a:r>
              <a:t>145件</a:t>
            </a:r>
            <a:br/>
            <a:r>
              <a:t>生成テスト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5400000"/>
            <a:ext cx="2340000" cy="9000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Hiragino Sans"/>
              </a:defRPr>
            </a:pPr>
            <a:r>
              <a:t>91.7%</a:t>
            </a:r>
            <a:br/>
            <a:r>
              <a:t>初回PASS率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5400000"/>
            <a:ext cx="2340000" cy="9000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Hiragino Sans"/>
              </a:defRPr>
            </a:pPr>
            <a:r>
              <a:t>100%</a:t>
            </a:r>
            <a:br/>
            <a:r>
              <a:t>修正後PASS率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8E"/>
                </a:solidFill>
                <a:latin typeface="Hiragino Sans"/>
              </a:defRPr>
            </a:pPr>
            <a:r>
              <a:t>1. 背景: LLM活用開発における単体テストの課題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1080000"/>
            <a:ext cx="5220000" cy="12600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152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  <a:latin typeface="Hiragino Sans"/>
              </a:defRPr>
            </a:pPr>
            <a:r>
              <a:t>LLM活用開発の現状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512000"/>
            <a:ext cx="48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Hiragino San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Hiragino Sans"/>
              </a:defRPr>
            </a:pPr>
            <a:r>
              <a:t>荒い要求 → LLMがコード生成 → 基本機能の動作確認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Hiragino Sans"/>
              </a:defRPr>
            </a:pPr>
            <a:r>
              <a:t>評価が「動くかどうか」に偏りがち</a:t>
            </a:r>
          </a:p>
          <a:p>
            <a:pPr>
              <a:spcAft>
                <a:spcPts val="400"/>
              </a:spcAft>
              <a:defRPr sz="1300" b="1">
                <a:solidFill>
                  <a:srgbClr val="C0392B"/>
                </a:solidFill>
                <a:latin typeface="Hiragino Sans"/>
              </a:defRPr>
            </a:pPr>
            <a:r>
              <a:t>単体テスト・コンポーネントテスト層が手薄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000" y="1080000"/>
            <a:ext cx="5220000" cy="1260000"/>
          </a:xfrm>
          <a:prstGeom prst="round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0" y="1152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Hiragino Sans"/>
              </a:defRPr>
            </a:pPr>
            <a:r>
              <a:t>実リリースに必要なこと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0" y="1512000"/>
            <a:ext cx="48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Hiragino San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Hiragino Sans"/>
              </a:defRPr>
            </a:pPr>
            <a:r>
              <a:t>各関数が仕様どおりに動作することの検証</a:t>
            </a: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Hiragino Sans"/>
              </a:defRPr>
            </a:pPr>
            <a:r>
              <a:t>分岐条件・境界値の体系的なテスト</a:t>
            </a:r>
          </a:p>
          <a:p>
            <a:pPr>
              <a:spcAft>
                <a:spcPts val="400"/>
              </a:spcAft>
              <a:defRPr sz="1300" b="1">
                <a:solidFill>
                  <a:srgbClr val="C0392B"/>
                </a:solidFill>
                <a:latin typeface="Hiragino Sans"/>
              </a:defRPr>
            </a:pPr>
            <a:r>
              <a:t>テスト設計の根拠と網羅性の管理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70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2222"/>
                </a:solidFill>
                <a:latin typeface="Hiragino Sans"/>
              </a:defRPr>
            </a:pPr>
            <a:r>
              <a:t>既存LLMテスト生成手法の3つの問題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240000"/>
            <a:ext cx="3420000" cy="432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Hiragino Sans"/>
              </a:defRPr>
            </a:pPr>
            <a:r>
              <a:t>P1: テスト設計根拠の不在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780000"/>
            <a:ext cx="32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Hiragino Sans"/>
              </a:defRPr>
            </a:pPr>
            <a:r>
              <a:t>生成テストが「何の分岐を」「どの同値クラスを」対象としているか不明。</a:t>
            </a:r>
            <a:br/>
            <a:r>
              <a:t>第三者がテスト設計の妥当性を検証できない。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3240000"/>
            <a:ext cx="3420000" cy="4320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Hiragino Sans"/>
              </a:defRPr>
            </a:pPr>
            <a:r>
              <a:t>P2: 網羅性の事前把握が不可能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8000" y="3780000"/>
            <a:ext cx="32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Hiragino Sans"/>
              </a:defRPr>
            </a:pPr>
            <a:r>
              <a:t>テスト生成「前」に網羅性を設計・管理する手段がない。</a:t>
            </a:r>
            <a:br/>
            <a:r>
              <a:t>重複テストばかりという状況を事前に検知できない。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0000" y="3240000"/>
            <a:ext cx="3420000" cy="4320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Hiragino Sans"/>
              </a:defRPr>
            </a:pPr>
            <a:r>
              <a:t>P3: テスト失敗時の原因特定コスト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8000" y="3780000"/>
            <a:ext cx="32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Hiragino Sans"/>
              </a:defRPr>
            </a:pPr>
            <a:r>
              <a:t>テスト失敗時にテストコードとソースコードを逐一突合する必要。</a:t>
            </a:r>
            <a:br/>
            <a:r>
              <a:t>145件のテスト失敗原因の特定に長時間を要する。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4860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iragino Sans"/>
              </a:defRPr>
            </a:pPr>
            <a:r>
              <a:t>先行研究 (CodaMOSA, ChatUniTest, TestPilot, CoverUp等) はカバレッジ向上に注力。</a:t>
            </a:r>
            <a:br/>
            <a:r>
              <a:t>115本のサーベイ[7]で89%が「直接テスト生成」方式 → テスト設計情報が外部化されない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8E"/>
                </a:solidFill>
                <a:latin typeface="Hiragino Sans"/>
              </a:defRPr>
            </a:pPr>
            <a:r>
              <a:t>2. 提案手法: テスト要求モデル (TRM) による3段階パイプライン</a:t>
            </a:r>
          </a:p>
        </p:txBody>
      </p:sp>
      <p:pic>
        <p:nvPicPr>
          <p:cNvPr id="3" name="Picture 2" descr="fig1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900000"/>
            <a:ext cx="10800000" cy="443076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0000" y="4860000"/>
            <a:ext cx="10800000" cy="12600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4932000"/>
            <a:ext cx="10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  <a:latin typeface="Hiragino Sans"/>
              </a:defRPr>
            </a:pPr>
            <a:r>
              <a:t>核心: TRM（テスト要求モデル）= 構造化された中間成果物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292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Hiragino San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Hiragino Sans"/>
              </a:defRPr>
            </a:pPr>
            <a:r>
              <a:t>分岐網羅(BR)・同値クラス(EC)・境界値(BV)・エラーパス(ER)・依存切替(DP) の5種別</a:t>
            </a:r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Hiragino Sans"/>
              </a:defRPr>
            </a:pPr>
            <a:r>
              <a:t>各要求にID・説明・優先度・ソースコード参照を付与 → YAML形式で出力</a:t>
            </a:r>
          </a:p>
          <a:p>
            <a:pPr>
              <a:spcAft>
                <a:spcPts val="400"/>
              </a:spcAft>
              <a:defRPr sz="1300" b="1">
                <a:solidFill>
                  <a:srgbClr val="1A568E"/>
                </a:solidFill>
                <a:latin typeface="Hiragino Sans"/>
              </a:defRPr>
            </a:pPr>
            <a:r>
              <a:t>P1解決: テスト設計根拠が追跡可能 / P2解決: 生成「前」に網羅性管理 / P3解決: FAIL時にIDで即時診断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8E"/>
                </a:solidFill>
                <a:latin typeface="Hiragino Sans"/>
              </a:defRPr>
            </a:pPr>
            <a:r>
              <a:t>TRMの具体例: ParseVersion関数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900000"/>
            <a:ext cx="5400000" cy="252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972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8E"/>
                </a:solidFill>
                <a:latin typeface="Hiragino Sans"/>
              </a:defRPr>
            </a:pPr>
            <a:r>
              <a:t>Step 2 出力: TRM (YAML)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1368000"/>
            <a:ext cx="486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Consolas"/>
              </a:defRPr>
            </a:pPr>
            <a:r>
              <a:t>- id: "BR-11"</a:t>
            </a:r>
            <a:br/>
            <a:r>
              <a:t>  type: branch_coverage</a:t>
            </a:r>
            <a:br/>
            <a:r>
              <a:t>  description: "alpha修飾子の</a:t>
            </a:r>
            <a:br/>
            <a:r>
              <a:t>    分岐を通過する"</a:t>
            </a:r>
            <a:br/>
            <a:r>
              <a:t>  priority: high</a:t>
            </a:r>
            <a:br/>
            <a:r>
              <a:t>  source_ref: "BC-02-10:</a:t>
            </a:r>
            <a:br/>
            <a:r>
              <a:t>    strncmp(p,\"alpha\",5)==0"</a:t>
            </a:r>
            <a:br/>
            <a:r>
              <a:t>  expected_behavior:</a:t>
            </a:r>
            <a:br/>
            <a:r>
              <a:t>    "nShift = -0x60 を設定"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000" y="900000"/>
            <a:ext cx="5400000" cy="252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0" y="972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8E"/>
                </a:solidFill>
                <a:latin typeface="Hiragino Sans"/>
              </a:defRPr>
            </a:pPr>
            <a:r>
              <a:t>Step 3 出力: テストコード (C++)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2000" y="1368000"/>
            <a:ext cx="486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Consolas"/>
              </a:defRPr>
            </a:pPr>
            <a:r>
              <a:t>TEST(ParseVersion,</a:t>
            </a:r>
            <a:br/>
            <a:r>
              <a:t>     AlphaModifier) {</a:t>
            </a:r>
            <a:br/>
            <a:r>
              <a:t>  // BR-11: alpha修飾子の</a:t>
            </a:r>
            <a:br/>
            <a:r>
              <a:t>  //   分岐を通過する</a:t>
            </a:r>
            <a:br/>
            <a:r>
              <a:t>  UINT32 val =</a:t>
            </a:r>
            <a:br/>
            <a:r>
              <a:t>    ParseVersion(</a:t>
            </a:r>
            <a:br/>
            <a:r>
              <a:t>      L"2.4.1alpha");</a:t>
            </a:r>
            <a:br/>
            <a:r>
              <a:t>  EXPECT_EQ(val,</a:t>
            </a:r>
            <a:br/>
            <a:r>
              <a:t>    0x82848120);</a:t>
            </a:r>
            <a:br/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0000" y="198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8E"/>
                </a:solidFill>
                <a:latin typeface="Hiragino Sans"/>
              </a:defRPr>
            </a:pPr>
            <a:r>
              <a:t>  =&gt;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780000"/>
            <a:ext cx="10980000" cy="9000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3851999"/>
            <a:ext cx="10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iragino Sans"/>
              </a:defRPr>
            </a:pPr>
            <a:r>
              <a:t>TRM IDによるトレーサビリティ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4212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Hiragino San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CCDDEE"/>
                </a:solidFill>
                <a:latin typeface="Hiragino Sans"/>
              </a:defRPr>
            </a:pPr>
            <a:r>
              <a:t>テスト要求 BR-11 → テストケース ParseVersion.AlphaModifier → 正方向・逆方向の追跡が可能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Hiragino Sans"/>
              </a:defRPr>
            </a:pPr>
            <a:r>
              <a:t>テスト失敗時: BR-11 の説明とソースコード参照から原因を即座に特定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504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222"/>
                </a:solidFill>
                <a:latin typeface="Hiragino Sans"/>
              </a:defRPr>
            </a:pPr>
            <a:r>
              <a:t>5種別の体系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000" y="5400000"/>
            <a:ext cx="1980000" cy="900000"/>
          </a:xfrm>
          <a:prstGeom prst="roundRect">
            <a:avLst/>
          </a:prstGeom>
          <a:solidFill>
            <a:srgbClr val="888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Hiragino Sans"/>
              </a:defRPr>
            </a:pPr>
            <a:r>
              <a:t>BR</a:t>
            </a:r>
            <a:br/>
            <a:r>
              <a:t>分岐網羅</a:t>
            </a:r>
            <a:br/>
            <a:r>
              <a:t>55件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2000" y="5400000"/>
            <a:ext cx="1980000" cy="900000"/>
          </a:xfrm>
          <a:prstGeom prst="roundRect">
            <a:avLst/>
          </a:prstGeom>
          <a:solidFill>
            <a:srgbClr val="737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Hiragino Sans"/>
              </a:defRPr>
            </a:pPr>
            <a:r>
              <a:t>EC</a:t>
            </a:r>
            <a:br/>
            <a:r>
              <a:t>同値クラス</a:t>
            </a:r>
            <a:br/>
            <a:r>
              <a:t>27件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4000" y="5400000"/>
            <a:ext cx="1980000" cy="900000"/>
          </a:xfrm>
          <a:prstGeom prst="roundRect">
            <a:avLst/>
          </a:prstGeom>
          <a:solidFill>
            <a:srgbClr val="5E5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Hiragino Sans"/>
              </a:defRPr>
            </a:pPr>
            <a:r>
              <a:t>BV</a:t>
            </a:r>
            <a:br/>
            <a:r>
              <a:t>境界値</a:t>
            </a:r>
            <a:br/>
            <a:r>
              <a:t>11件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36000" y="5400000"/>
            <a:ext cx="1980000" cy="900000"/>
          </a:xfrm>
          <a:prstGeom prst="roundRect">
            <a:avLst/>
          </a:prstGeom>
          <a:solidFill>
            <a:srgbClr val="494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Hiragino Sans"/>
              </a:defRPr>
            </a:pPr>
            <a:r>
              <a:t>ER</a:t>
            </a:r>
            <a:br/>
            <a:r>
              <a:t>エラーパス</a:t>
            </a:r>
            <a:br/>
            <a:r>
              <a:t>3件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8000" y="5400000"/>
            <a:ext cx="1980000" cy="900000"/>
          </a:xfrm>
          <a:prstGeom prst="roundRect">
            <a:avLst/>
          </a:prstGeom>
          <a:solidFill>
            <a:srgbClr val="34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Hiragino Sans"/>
              </a:defRPr>
            </a:pPr>
            <a:r>
              <a:t>DP</a:t>
            </a:r>
            <a:br/>
            <a:r>
              <a:t>依存切替</a:t>
            </a:r>
            <a:br/>
            <a:r>
              <a:t>3件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8E"/>
                </a:solidFill>
                <a:latin typeface="Hiragino Sans"/>
              </a:defRPr>
            </a:pPr>
            <a:r>
              <a:t>3. 実験条件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222"/>
                </a:solidFill>
                <a:latin typeface="Hiragino Sans"/>
              </a:defRPr>
            </a:pPr>
            <a:r>
              <a:t>対象プロジェクト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60000"/>
            <a:ext cx="54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Hiragino San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Hiragino Sans"/>
              </a:defRPr>
            </a:pPr>
            <a:r>
              <a:t>sakura-editor/sakura (C++, OSS)</a:t>
            </a:r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Hiragino Sans"/>
              </a:defRPr>
            </a:pPr>
            <a:r>
              <a:t>Windows向け日本語テキストエディタ</a:t>
            </a:r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Hiragino Sans"/>
              </a:defRPr>
            </a:pPr>
            <a:r>
              <a:t>Google Test による既存テスト約45件が整備済み</a:t>
            </a:r>
          </a:p>
          <a:p>
            <a:pPr>
              <a:spcAft>
                <a:spcPts val="400"/>
              </a:spcAft>
              <a:defRPr sz="1000" b="0">
                <a:solidFill>
                  <a:srgbClr val="222222"/>
                </a:solidFill>
                <a:latin typeface="Hiragino Sans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222222"/>
                </a:solidFill>
                <a:latin typeface="Hiragino Sans"/>
              </a:defRPr>
            </a:pPr>
            <a:r>
              <a:t>3領域 8関数 合計約385行を選定: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222222"/>
                </a:solidFill>
                <a:latin typeface="Hiragino Sans"/>
              </a:defRPr>
            </a:pPr>
            <a:r>
              <a:t>日時書式・バージョン解析 (format.cpp): 約115行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222222"/>
                </a:solidFill>
                <a:latin typeface="Hiragino Sans"/>
              </a:defRPr>
            </a:pPr>
            <a:r>
              <a:t>メールアドレス・文字種判定 (CWordParse.cpp): 約180行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222222"/>
                </a:solidFill>
                <a:latin typeface="Hiragino Sans"/>
              </a:defRPr>
            </a:pPr>
            <a:r>
              <a:t>全角半角英数変換 (convert_util.cpp): 約90行</a:t>
            </a:r>
          </a:p>
          <a:p>
            <a:pPr>
              <a:spcAft>
                <a:spcPts val="400"/>
              </a:spcAft>
              <a:defRPr sz="1000" b="0">
                <a:solidFill>
                  <a:srgbClr val="222222"/>
                </a:solidFill>
                <a:latin typeface="Hiragino San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666666"/>
                </a:solidFill>
                <a:latin typeface="Hiragino Sans"/>
              </a:defRPr>
            </a:pPr>
            <a:r>
              <a:t>GUI依存・ファイルI/O依存等の11関数は除外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0" y="90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222"/>
                </a:solidFill>
                <a:latin typeface="Hiragino Sans"/>
              </a:defRPr>
            </a:pPr>
            <a:r>
              <a:t>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0" y="1260000"/>
            <a:ext cx="54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Hiragino San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Hiragino Sans"/>
              </a:defRPr>
            </a:pPr>
            <a:r>
              <a:t>macOS (Apple clang 16.0)</a:t>
            </a:r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Hiragino Sans"/>
              </a:defRPr>
            </a:pPr>
            <a:r>
              <a:t>Google Test 1.17 (Homebrew)</a:t>
            </a:r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Hiragino Sans"/>
              </a:defRPr>
            </a:pPr>
            <a:r>
              <a:t>Windows互換ヘッダで型定義を代替</a:t>
            </a:r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Hiragino Sans"/>
              </a:defRPr>
            </a:pPr>
            <a:r>
              <a:t>純粋関数のため移植は型定義のみ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288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222"/>
                </a:solidFill>
                <a:latin typeface="Hiragino Sans"/>
              </a:defRPr>
            </a:pPr>
            <a:r>
              <a:t>比較対象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3240000"/>
            <a:ext cx="54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Hiragino San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Hiragino Sans"/>
              </a:defRPr>
            </a:pPr>
            <a:r>
              <a:t>(A) 既存の手動テスト: 約45件</a:t>
            </a:r>
          </a:p>
          <a:p>
            <a:pPr>
              <a:spcAft>
                <a:spcPts val="400"/>
              </a:spcAft>
              <a:defRPr sz="1300" b="1">
                <a:solidFill>
                  <a:srgbClr val="1A568E"/>
                </a:solidFill>
                <a:latin typeface="Hiragino Sans"/>
              </a:defRPr>
            </a:pPr>
            <a:r>
              <a:t>(C) 提案手法: TRM + LLM生成テスト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Hiragino Sans"/>
              </a:defRPr>
            </a:pPr>
            <a:r>
              <a:t>4. 実施結果: Key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1080000"/>
            <a:ext cx="3420000" cy="7200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  <a:latin typeface="Hiragino Sans"/>
              </a:defRPr>
            </a:pPr>
            <a:r>
              <a:t>99件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872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Hiragino Sans"/>
              </a:defRPr>
            </a:pPr>
            <a:r>
              <a:t>テスト要求 (TRM)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232000"/>
            <a:ext cx="32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Hiragino Sans"/>
              </a:defRPr>
            </a:pPr>
            <a:r>
              <a:t>5種別で構造化定義</a:t>
            </a:r>
            <a:br/>
            <a:r>
              <a:t>平均3.9行/要求の密度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0" y="1080000"/>
            <a:ext cx="3420000" cy="7200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  <a:latin typeface="Hiragino Sans"/>
              </a:defRPr>
            </a:pPr>
            <a:r>
              <a:t>145件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8000" y="1872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Hiragino Sans"/>
              </a:defRPr>
            </a:pPr>
            <a:r>
              <a:t>生成テストケース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8000" y="2232000"/>
            <a:ext cx="32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Hiragino Sans"/>
              </a:defRPr>
            </a:pPr>
            <a:r>
              <a:t>既存テスト45件の約3.2倍</a:t>
            </a:r>
            <a:br/>
            <a:r>
              <a:t>要求カバー率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0000" y="1080000"/>
            <a:ext cx="3420000" cy="7200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  <a:latin typeface="Hiragino Sans"/>
              </a:defRPr>
            </a:pPr>
            <a:r>
              <a:t>91.7%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8000" y="1872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Hiragino Sans"/>
              </a:defRPr>
            </a:pPr>
            <a:r>
              <a:t>初回PASS率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8000" y="2232000"/>
            <a:ext cx="32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Hiragino Sans"/>
              </a:defRPr>
            </a:pPr>
            <a:r>
              <a:t>133/145件が初回PASS</a:t>
            </a:r>
            <a:br/>
            <a:r>
              <a:t>FAIL 12件は全てLLMの期待値誤り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" y="3600000"/>
            <a:ext cx="3420000" cy="7200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  <a:latin typeface="Hiragino Sans"/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4392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Hiragino Sans"/>
              </a:defRPr>
            </a:pPr>
            <a:r>
              <a:t>修正後PASS率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4752000"/>
            <a:ext cx="32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Hiragino Sans"/>
              </a:defRPr>
            </a:pPr>
            <a:r>
              <a:t>TRM IDで12件を5分類に即時診断</a:t>
            </a:r>
            <a:br/>
            <a:r>
              <a:t>対象関数のバグは0件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0" y="3600000"/>
            <a:ext cx="3420000" cy="7200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  <a:latin typeface="Hiragino Sans"/>
              </a:defRPr>
            </a:pPr>
            <a:r>
              <a:t>61.6%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8000" y="4392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Hiragino Sans"/>
              </a:defRPr>
            </a:pPr>
            <a:r>
              <a:t>既存テスト未カバー率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8000" y="4752000"/>
            <a:ext cx="32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Hiragino Sans"/>
              </a:defRPr>
            </a:pPr>
            <a:r>
              <a:t>99件中61件が既存テスト未カバー</a:t>
            </a:r>
            <a:br/>
            <a:r>
              <a:t>DP種別は100%欠落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0000" y="3600000"/>
            <a:ext cx="3420000" cy="7200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  <a:latin typeface="Hiragino Sans"/>
              </a:defRPr>
            </a:pPr>
            <a:r>
              <a:t>65.7%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8000" y="4392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Hiragino Sans"/>
              </a:defRPr>
            </a:pPr>
            <a:r>
              <a:t>コード非専門者可読率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8000" y="4752000"/>
            <a:ext cx="32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Hiragino Sans"/>
              </a:defRPr>
            </a:pPr>
            <a:r>
              <a:t>99件中65件がコード知識なしで</a:t>
            </a:r>
            <a:br/>
            <a:r>
              <a:t>内容を理解可能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8E"/>
                </a:solidFill>
                <a:latin typeface="Hiragino Sans"/>
              </a:defRPr>
            </a:pPr>
            <a:r>
              <a:t>TRM生成結果: 5種別 99件のテスト要求</a:t>
            </a:r>
          </a:p>
        </p:txBody>
      </p:sp>
      <p:pic>
        <p:nvPicPr>
          <p:cNvPr id="3" name="Picture 2" descr="fig2-requirements-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720000"/>
            <a:ext cx="5400000" cy="4558864"/>
          </a:xfrm>
          <a:prstGeom prst="rect">
            <a:avLst/>
          </a:prstGeom>
        </p:spPr>
      </p:pic>
      <p:pic>
        <p:nvPicPr>
          <p:cNvPr id="4" name="Picture 3" descr="fig3-test-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000" y="720000"/>
            <a:ext cx="5760000" cy="35749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0000" y="468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Hiragino Sans"/>
              </a:defRPr>
            </a:pPr>
            <a:r>
              <a:t>BR(分岐網羅)が55.6%と最多 — ソースコードの分岐構造から直接導出</a:t>
            </a:r>
            <a:br/>
            <a:r>
              <a:t>ER/DPが少ないのは対象が純粋関数のため（副作用関数では増加が予測される）</a:t>
            </a:r>
            <a:br/>
            <a:r>
              <a:t>全領域で既存テストの3.1〜4.1倍のテストケースを体系的に生成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8E"/>
                </a:solidFill>
                <a:latin typeface="Hiragino Sans"/>
              </a:defRPr>
            </a:pPr>
            <a:r>
              <a:t>コンパイル・実行結果と障害診断</a:t>
            </a:r>
          </a:p>
        </p:txBody>
      </p:sp>
      <p:pic>
        <p:nvPicPr>
          <p:cNvPr id="3" name="Picture 2" descr="fig4-execution-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720000"/>
            <a:ext cx="5760000" cy="35785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80000" y="720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Hiragino Sans"/>
              </a:defRPr>
            </a:pPr>
            <a:r>
              <a:t>FAIL 12件の原因分類 (TRM IDで即時診断)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126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2222"/>
                </a:solidFill>
                <a:latin typeface="Hiragino Sans"/>
              </a:defRPr>
            </a:pPr>
            <a:r>
              <a:t>コンポーネント分割の誤解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40000" y="1260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Hiragino Sans"/>
              </a:defRPr>
            </a:pPr>
            <a:r>
              <a:t>5件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60000" y="1260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Hiragino Sans"/>
              </a:defRPr>
            </a:pPr>
            <a:r>
              <a:t>BR-11〜15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0" y="190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2222"/>
                </a:solidFill>
                <a:latin typeface="Hiragino Sans"/>
              </a:defRPr>
            </a:pPr>
            <a:r>
              <a:t>数字グルーピングの誤解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40000" y="1908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Hiragino Sans"/>
              </a:defRPr>
            </a:pPr>
            <a:r>
              <a:t>1件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60000" y="190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Hiragino Sans"/>
              </a:defRPr>
            </a:pPr>
            <a:r>
              <a:t>EC内部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2556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2222"/>
                </a:solidFill>
                <a:latin typeface="Hiragino Sans"/>
              </a:defRPr>
            </a:pPr>
            <a:r>
              <a:t>文字数カウントミス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40000" y="2556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Hiragino Sans"/>
              </a:defRPr>
            </a:pPr>
            <a:r>
              <a:t>2件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60000" y="2556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Hiragino Sans"/>
              </a:defRPr>
            </a:pPr>
            <a:r>
              <a:t>BR-34, 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0" y="320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2222"/>
                </a:solidFill>
                <a:latin typeface="Hiragino Sans"/>
              </a:defRPr>
            </a:pPr>
            <a:r>
              <a:t>API呼び出しバグ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40000" y="3204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Hiragino Sans"/>
              </a:defRPr>
            </a:pPr>
            <a:r>
              <a:t>1件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60000" y="3204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Hiragino Sans"/>
              </a:defRPr>
            </a:pPr>
            <a:r>
              <a:t>EC-16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0" y="3851999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2222"/>
                </a:solidFill>
                <a:latin typeface="Hiragino Sans"/>
              </a:defRPr>
            </a:pPr>
            <a:r>
              <a:t>マッピング戻り値の誤解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40000" y="3851999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Hiragino Sans"/>
              </a:defRPr>
            </a:pPr>
            <a:r>
              <a:t>3件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60000" y="3851999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Hiragino Sans"/>
              </a:defRPr>
            </a:pPr>
            <a:r>
              <a:t>BR-39〜41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80000" y="4680000"/>
            <a:ext cx="5220000" cy="1080000"/>
          </a:xfrm>
          <a:prstGeom prst="round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0000" y="4752000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Hiragino Sans"/>
              </a:defRPr>
            </a:pPr>
            <a:r>
              <a:t>P3の解決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0000" y="5112000"/>
            <a:ext cx="48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Hiragino Sans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Hiragino Sans"/>
              </a:defRPr>
            </a:pPr>
            <a:r>
              <a:t>TRMなし: 145件のC++コードを逐一突合 → 長時間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Hiragino Sans"/>
              </a:defRPr>
            </a:pPr>
            <a:r>
              <a:t>TRMあり: TRM IDから日本語説明+ソース参照で即時診断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8E"/>
                </a:solidFill>
                <a:latin typeface="Hiragino Sans"/>
              </a:defRPr>
            </a:pPr>
            <a:r>
              <a:t>既存テストの品質ギャップ分析 (P2の解決)</a:t>
            </a:r>
          </a:p>
        </p:txBody>
      </p:sp>
      <p:pic>
        <p:nvPicPr>
          <p:cNvPr id="3" name="Picture 2" descr="fig5-quality-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900000"/>
            <a:ext cx="6480000" cy="31763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0" y="900000"/>
            <a:ext cx="4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Hiragino Sans"/>
              </a:defRPr>
            </a:pPr>
            <a:r>
              <a:t>発見された品質ギャップ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0" y="1440000"/>
            <a:ext cx="450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Hiragino Sans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C0392B"/>
                </a:solidFill>
                <a:latin typeface="Hiragino Sans"/>
              </a:defRPr>
            </a:pPr>
            <a:r>
              <a:t>全要求の61.6%が既存テスト未カバー</a:t>
            </a:r>
          </a:p>
          <a:p>
            <a:pPr>
              <a:spcAft>
                <a:spcPts val="400"/>
              </a:spcAft>
              <a:defRPr sz="800" b="0">
                <a:solidFill>
                  <a:srgbClr val="222222"/>
                </a:solidFill>
                <a:latin typeface="Hiragino Sans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222222"/>
                </a:solidFill>
                <a:latin typeface="Hiragino Sans"/>
              </a:defRPr>
            </a:pPr>
            <a:r>
              <a:t>DP (依存切替): 100%未カバー</a:t>
            </a:r>
          </a:p>
          <a:p>
            <a:pPr lvl="1">
              <a:spcAft>
                <a:spcPts val="400"/>
              </a:spcAft>
              <a:defRPr sz="1100" b="0">
                <a:solidFill>
                  <a:srgbClr val="666666"/>
                </a:solidFill>
                <a:latin typeface="Hiragino Sans"/>
              </a:defRPr>
            </a:pPr>
            <a:r>
              <a:t>  関数間の差異検証・往復変換検証が完全欠落</a:t>
            </a:r>
          </a:p>
          <a:p>
            <a:pPr>
              <a:spcAft>
                <a:spcPts val="400"/>
              </a:spcAft>
              <a:defRPr sz="800" b="0">
                <a:solidFill>
                  <a:srgbClr val="222222"/>
                </a:solidFill>
                <a:latin typeface="Hiragino Sans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222222"/>
                </a:solidFill>
                <a:latin typeface="Hiragino Sans"/>
              </a:defRPr>
            </a:pPr>
            <a:r>
              <a:t>BV (境界値): 72.7%未カバー</a:t>
            </a:r>
          </a:p>
          <a:p>
            <a:pPr lvl="1">
              <a:spcAft>
                <a:spcPts val="400"/>
              </a:spcAft>
              <a:defRPr sz="1100" b="0">
                <a:solidFill>
                  <a:srgbClr val="666666"/>
                </a:solidFill>
                <a:latin typeface="Hiragino Sans"/>
              </a:defRPr>
            </a:pPr>
            <a:r>
              <a:t>  境界値の体系的検証が不足</a:t>
            </a:r>
          </a:p>
          <a:p>
            <a:pPr>
              <a:spcAft>
                <a:spcPts val="400"/>
              </a:spcAft>
              <a:defRPr sz="800" b="0">
                <a:solidFill>
                  <a:srgbClr val="222222"/>
                </a:solidFill>
                <a:latin typeface="Hiragino Sans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222222"/>
                </a:solidFill>
                <a:latin typeface="Hiragino Sans"/>
              </a:defRPr>
            </a:pPr>
            <a:r>
              <a:t>EC (同値クラス): 70.4%未カバー</a:t>
            </a:r>
          </a:p>
          <a:p>
            <a:pPr lvl="1">
              <a:spcAft>
                <a:spcPts val="400"/>
              </a:spcAft>
              <a:defRPr sz="1100" b="0">
                <a:solidFill>
                  <a:srgbClr val="666666"/>
                </a:solidFill>
                <a:latin typeface="Hiragino Sans"/>
              </a:defRPr>
            </a:pPr>
            <a:r>
              <a:t>  入力パターンの網羅的検証が不足</a:t>
            </a:r>
          </a:p>
          <a:p>
            <a:pPr>
              <a:spcAft>
                <a:spcPts val="400"/>
              </a:spcAft>
              <a:defRPr sz="800" b="0">
                <a:solidFill>
                  <a:srgbClr val="222222"/>
                </a:solidFill>
                <a:latin typeface="Hiragino San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222222"/>
                </a:solidFill>
                <a:latin typeface="Hiragino Sans"/>
              </a:defRPr>
            </a:pPr>
            <a:r>
              <a:t>BR (分岐網羅): 52.7%未カバー</a:t>
            </a:r>
          </a:p>
          <a:p>
            <a:pPr lvl="1">
              <a:spcAft>
                <a:spcPts val="400"/>
              </a:spcAft>
              <a:defRPr sz="1100" b="0">
                <a:solidFill>
                  <a:srgbClr val="666666"/>
                </a:solidFill>
                <a:latin typeface="Hiragino Sans"/>
              </a:defRPr>
            </a:pPr>
            <a:r>
              <a:t>  主要パスは比較的カバーされている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4860000"/>
            <a:ext cx="10980000" cy="900000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4932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8E"/>
                </a:solidFill>
                <a:latin typeface="Hiragino Sans"/>
              </a:defRPr>
            </a:pPr>
            <a:r>
              <a:t>TRMがあるからこそ「何の観点が欠けているか」を構造的に把握できる。</a:t>
            </a:r>
            <a:br/>
            <a:r>
              <a:t>TRMなしでは「テストが少ない」という漠然とした認識にとどまる。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8E"/>
                </a:solidFill>
                <a:latin typeface="Hiragino Sans"/>
              </a:defRPr>
            </a:pPr>
            <a:r>
              <a:t>5. 結論: 3つの問題への解決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900000"/>
            <a:ext cx="3420000" cy="5400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Hiragino Sans"/>
              </a:defRPr>
            </a:pPr>
            <a:r>
              <a:t>P1 解決</a:t>
            </a:r>
            <a:br/>
            <a:r>
              <a:t>テスト設計根拠の明示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620000"/>
            <a:ext cx="32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Hiragino Sans"/>
              </a:defRPr>
            </a:pPr>
            <a:r>
              <a:t>99件のTRM (5種別) を構造化定義</a:t>
            </a:r>
            <a:br/>
            <a:r>
              <a:t>各テストケースにTRM IDを付与</a:t>
            </a:r>
            <a:br/>
            <a:r>
              <a:t>テスト設計の妥当性を第三者が検証可能に</a:t>
            </a:r>
            <a:br/>
            <a:r>
              <a:t>65.7%がコード非専門者にも可読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0" y="900000"/>
            <a:ext cx="3420000" cy="5400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Hiragino Sans"/>
              </a:defRPr>
            </a:pPr>
            <a:r>
              <a:t>P2 解決</a:t>
            </a:r>
            <a:br/>
            <a:r>
              <a:t>網羅性の事前管理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28000" y="1620000"/>
            <a:ext cx="32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Hiragino Sans"/>
              </a:defRPr>
            </a:pPr>
            <a:r>
              <a:t>テスト要求カバー率100%を事前に管理</a:t>
            </a:r>
            <a:br/>
            <a:r>
              <a:t>既存テストの未カバー61件を種別ごとに特定</a:t>
            </a:r>
            <a:br/>
            <a:r>
              <a:t>DP種別100%欠落を発見</a:t>
            </a:r>
            <a:br/>
            <a:r>
              <a:t>テスト生成「前」に品質ギャップを把握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0000" y="900000"/>
            <a:ext cx="3420000" cy="5400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Hiragino Sans"/>
              </a:defRPr>
            </a:pPr>
            <a:r>
              <a:t>P3 解決</a:t>
            </a:r>
            <a:br/>
            <a:r>
              <a:t>テスト失敗の構造的診断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8000" y="1620000"/>
            <a:ext cx="32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Hiragino Sans"/>
              </a:defRPr>
            </a:pPr>
            <a:r>
              <a:t>FAIL 12件をTRM IDで5分類に即時特定</a:t>
            </a:r>
            <a:br/>
            <a:r>
              <a:t>コード突合不要で原因の所在を把握</a:t>
            </a:r>
            <a:br/>
            <a:r>
              <a:t>修正後 145/145件 100% PASS</a:t>
            </a:r>
            <a:br/>
            <a:r>
              <a:t>対象関数の実装バグ: 0件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378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2222"/>
                </a:solidFill>
                <a:latin typeface="Hiragino Sans"/>
              </a:defRPr>
            </a:pPr>
            <a:r>
              <a:t>今後の課題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4140000"/>
            <a:ext cx="11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iragino Sans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Hiragino Sans"/>
              </a:defRPr>
            </a:pPr>
            <a:r>
              <a:t>(1) 副作用を持つ関数への拡張（モック・スタブ戦略）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Hiragino Sans"/>
              </a:defRPr>
            </a:pPr>
            <a:r>
              <a:t>(2) コードカバレッジ (C0/C1) との相関分析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Hiragino Sans"/>
              </a:defRPr>
            </a:pPr>
            <a:r>
              <a:t>(3) 非開発者による可読性の被験者評価実験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Hiragino Sans"/>
              </a:defRPr>
            </a:pPr>
            <a:r>
              <a:t>(4) 他言語・他プロジェクトでの再現実験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8E"/>
                </a:solidFill>
                <a:latin typeface="Hiragino Sans"/>
              </a:defRPr>
            </a:pPr>
            <a:r>
              <a:t>付録: 先行研究との位置づけ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00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Hiragino Sans"/>
              </a:defRPr>
            </a:pPr>
            <a:r>
              <a:t>LLMテスト生成研究の全てが「テスト生成精度の向上」に集中 → テスト設計情報の外部化は未開拓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440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iragino Sans"/>
              </a:defRPr>
            </a:pPr>
            <a:r>
              <a:t>手法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368000"/>
            <a:ext cx="1980000" cy="3240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Hiragino Sans"/>
              </a:defRPr>
            </a:pPr>
            <a:r>
              <a:t>手法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0000" y="1440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iragino Sans"/>
              </a:defRPr>
            </a:pPr>
            <a:r>
              <a:t>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00000" y="1368000"/>
            <a:ext cx="1440000" cy="3240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Hiragino Sans"/>
              </a:defRPr>
            </a:pPr>
            <a:r>
              <a:t>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440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iragino Sans"/>
              </a:defRPr>
            </a:pPr>
            <a:r>
              <a:t>主眼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0" y="1368000"/>
            <a:ext cx="3600000" cy="3240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Hiragino Sans"/>
              </a:defRPr>
            </a:pPr>
            <a:r>
              <a:t>主眼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1440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iragino Sans"/>
              </a:defRPr>
            </a:pPr>
            <a:r>
              <a:t>テスト設計の可視化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0000" y="1368000"/>
            <a:ext cx="3600000" cy="3240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Hiragino Sans"/>
              </a:defRPr>
            </a:pPr>
            <a:r>
              <a:t>テスト設計の可視化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1872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Hiragino Sans"/>
              </a:defRPr>
            </a:pPr>
            <a:r>
              <a:t>CodaMOSA [1]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1872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Hiragino Sans"/>
              </a:defRPr>
            </a:pPr>
            <a:r>
              <a:t>ICSE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0" y="187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Hiragino Sans"/>
              </a:defRPr>
            </a:pPr>
            <a:r>
              <a:t>SBST+LLMハイブリッド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0000" y="187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Hiragino Sans"/>
              </a:defRPr>
            </a:pPr>
            <a:r>
              <a:t>扱わない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2412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Hiragino Sans"/>
              </a:defRPr>
            </a:pPr>
            <a:r>
              <a:t>ChatUniTest [2]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0000" y="2412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Hiragino Sans"/>
              </a:defRPr>
            </a:pPr>
            <a:r>
              <a:t>FSE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0" y="241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Hiragino Sans"/>
              </a:defRPr>
            </a:pPr>
            <a:r>
              <a:t>生成-検証-修復サイクル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0000" y="241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Hiragino Sans"/>
              </a:defRPr>
            </a:pPr>
            <a:r>
              <a:t>扱わない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2951999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Hiragino Sans"/>
              </a:defRPr>
            </a:pPr>
            <a:r>
              <a:t>TestPilot [3]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0000" y="2951999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Hiragino Sans"/>
              </a:defRPr>
            </a:pPr>
            <a:r>
              <a:t>IEEE TSE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0" y="2951999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Hiragino Sans"/>
              </a:defRPr>
            </a:pPr>
            <a:r>
              <a:t>ゼロショット+再プロンプト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0000" y="2951999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Hiragino Sans"/>
              </a:defRPr>
            </a:pPr>
            <a:r>
              <a:t>扱わない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3491999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Hiragino Sans"/>
              </a:defRPr>
            </a:pPr>
            <a:r>
              <a:t>CoverUp [4]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0000" y="3491999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Hiragino Sans"/>
              </a:defRPr>
            </a:pPr>
            <a:r>
              <a:t>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0" y="3491999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Hiragino Sans"/>
              </a:defRPr>
            </a:pPr>
            <a:r>
              <a:t>カバレッジ誘導型生成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0000" y="3491999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Hiragino Sans"/>
              </a:defRPr>
            </a:pPr>
            <a:r>
              <a:t>扱わない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4031999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Hiragino Sans"/>
              </a:defRPr>
            </a:pPr>
            <a:r>
              <a:t>TELPA [6]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00000" y="4031999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Hiragino Sans"/>
              </a:defRPr>
            </a:pPr>
            <a:r>
              <a:t>ACM TOSEM 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0000" y="4031999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Hiragino Sans"/>
              </a:defRPr>
            </a:pPr>
            <a:r>
              <a:t>静的解析+困難分岐特化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0000" y="4031999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Hiragino Sans"/>
              </a:defRPr>
            </a:pPr>
            <a:r>
              <a:t>扱わない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000" y="4572000"/>
            <a:ext cx="19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Hiragino Sans"/>
              </a:defRPr>
            </a:pPr>
            <a:r>
              <a:t>本研究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4572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Hiragino Sans"/>
              </a:defRPr>
            </a:pPr>
            <a:r>
              <a:t>SQiP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0000" y="457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Hiragino Sans"/>
              </a:defRPr>
            </a:pPr>
            <a:r>
              <a:t>TRMによる構造化+生成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00000" y="457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8E"/>
                </a:solidFill>
                <a:latin typeface="Hiragino Sans"/>
              </a:defRPr>
            </a:pPr>
            <a:r>
              <a:t>主要な貢献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